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9" r:id="rId10"/>
    <p:sldId id="261" r:id="rId11"/>
    <p:sldId id="265" r:id="rId12"/>
    <p:sldId id="270" r:id="rId13"/>
    <p:sldId id="271" r:id="rId14"/>
    <p:sldId id="272" r:id="rId15"/>
    <p:sldId id="263" r:id="rId16"/>
    <p:sldId id="262" r:id="rId17"/>
    <p:sldId id="264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D3CD98-A40E-4517-BB33-FAD09665E2E5}" v="11" dt="2026-05-31T16:15:59.5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13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159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208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2E25F-BDB1-85E0-FBEE-613AC40ED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62194-246F-19FE-47BF-6284A8FFED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FDC1F-A588-BAB0-2F1C-833606AFF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5A5D7-5BC5-3D73-EEDE-7F3A0A578A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4056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41F84-DFE8-7B85-734E-A421143FE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7EEB7-910A-9A63-1A69-8E7CE857F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75FE62-BDD8-55B9-9A74-EF41665DB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37536-2889-E967-E36E-C8DDED2129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0171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EA5C1-03A2-56BF-93B0-D9EE0A591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6749A-73FF-74A9-DC3C-0401EEA44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CE48B-759F-F963-3A38-C0286F4D0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2871E-8763-CE26-4C24-3D3200E822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023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08D7C-B3CA-97F6-5D2C-EF7C63D6A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B136E-2C5D-48C4-4DAB-0A05DA43B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90155D-BE93-5A34-6559-434DD0C42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12560-6AE7-09A1-152B-C3446A3D46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956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1A750-8F9B-A703-3EE9-1A1D4A644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F81B1-C1B9-F02A-6364-08873E4EB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A32406-2CD6-1BDB-32A4-CD2BC2783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C7BED-E9A9-2462-A40D-03D41329F6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106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182880" y="822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kern="0" spc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GYMSTATS</a:t>
            </a:r>
            <a:endParaRPr lang="en-US" sz="6800" dirty="0"/>
          </a:p>
        </p:txBody>
      </p:sp>
      <p:sp>
        <p:nvSpPr>
          <p:cNvPr id="7" name="Text 4"/>
          <p:cNvSpPr/>
          <p:nvPr/>
        </p:nvSpPr>
        <p:spPr>
          <a:xfrm>
            <a:off x="182880" y="21717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integral de gimnasios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82880" y="2720341"/>
            <a:ext cx="5029200" cy="27432"/>
          </a:xfrm>
          <a:prstGeom prst="rect">
            <a:avLst/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18288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Intermodular  ·  1º DAM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0" y="4663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/ 2026</a:t>
            </a:r>
            <a:endParaRPr lang="en-US" sz="12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47A6973-EEEE-D6FF-AA6E-07EF2285C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138" y="1678342"/>
            <a:ext cx="1261036" cy="12610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7017" y="259297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¿Quiénes somos?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377440" cy="29260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3774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371600" y="1783080"/>
            <a:ext cx="914400" cy="9144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</a:rPr>
              <a:t>Ian Alonso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- Marketing y </a:t>
            </a:r>
            <a:r>
              <a:rPr lang="en-US" sz="1200" dirty="0" err="1">
                <a:solidFill>
                  <a:schemeClr val="bg1"/>
                </a:solidFill>
              </a:rPr>
              <a:t>Captación</a:t>
            </a:r>
            <a:r>
              <a:rPr lang="en-US" sz="1200" dirty="0">
                <a:solidFill>
                  <a:schemeClr val="bg1"/>
                </a:solidFill>
              </a:rPr>
              <a:t> de </a:t>
            </a:r>
            <a:r>
              <a:rPr lang="en-US" sz="1200" dirty="0" err="1">
                <a:solidFill>
                  <a:schemeClr val="bg1"/>
                </a:solidFill>
              </a:rPr>
              <a:t>Clientes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- Director de </a:t>
            </a:r>
            <a:r>
              <a:rPr lang="en-US" sz="1200" dirty="0" err="1">
                <a:solidFill>
                  <a:schemeClr val="bg1"/>
                </a:solidFill>
              </a:rPr>
              <a:t>negocios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37560" y="1463040"/>
            <a:ext cx="2377440" cy="29260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337560" y="1463040"/>
            <a:ext cx="23774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069080" y="1783080"/>
            <a:ext cx="914400" cy="9144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06908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42900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Carlos Manzano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74720" y="3383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100" dirty="0">
                <a:solidFill>
                  <a:schemeClr val="bg1"/>
                </a:solidFill>
              </a:rPr>
              <a:t>- Desarrollador de Aplicaciones Multiplataforma</a:t>
            </a:r>
          </a:p>
          <a:p>
            <a:r>
              <a:rPr lang="es-ES" sz="1100" dirty="0">
                <a:solidFill>
                  <a:schemeClr val="bg1"/>
                </a:solidFill>
              </a:rPr>
              <a:t>- Programador// Director Tecnológico</a:t>
            </a:r>
          </a:p>
        </p:txBody>
      </p:sp>
      <p:sp>
        <p:nvSpPr>
          <p:cNvPr id="16" name="Shape 14"/>
          <p:cNvSpPr/>
          <p:nvPr/>
        </p:nvSpPr>
        <p:spPr>
          <a:xfrm>
            <a:off x="6035040" y="1463040"/>
            <a:ext cx="2377440" cy="29260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6035040" y="1463040"/>
            <a:ext cx="23774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766560" y="1783080"/>
            <a:ext cx="914400" cy="9144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76656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Yon López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24452" y="3520440"/>
            <a:ext cx="2050868" cy="790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100" dirty="0">
                <a:solidFill>
                  <a:schemeClr val="bg1"/>
                </a:solidFill>
              </a:rPr>
              <a:t>- Desarrollador de Aplicaciones Web</a:t>
            </a:r>
          </a:p>
          <a:p>
            <a:r>
              <a:rPr lang="es-ES" sz="1100">
                <a:solidFill>
                  <a:schemeClr val="bg1"/>
                </a:solidFill>
              </a:rPr>
              <a:t>- Director de diseño</a:t>
            </a:r>
            <a:endParaRPr lang="es-ES" sz="11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Proyecto </a:t>
            </a:r>
            <a:r>
              <a:rPr lang="en-US" sz="1100" dirty="0" err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desarrollado</a:t>
            </a:r>
            <a:r>
              <a:rPr lang="en-US" sz="11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1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equipo</a:t>
            </a:r>
            <a:r>
              <a:rPr lang="en-US" sz="11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 para el </a:t>
            </a:r>
            <a:r>
              <a:rPr lang="en-US" sz="1100" dirty="0" err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módulo</a:t>
            </a:r>
            <a:r>
              <a:rPr lang="en-US" sz="11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 de Proyecto Intermodular · 1º DAM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13EC81FF-4588-D9C9-2632-93090C338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819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es GymStats?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389120" cy="329184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4008" cy="3291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916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642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GymStats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aplicación de escritorio desarrollada en Java para la gestión integral de un gimnasio.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 los administradores gestionar socios y empleados, y a los clientes consultar su perfil, calcular su IMC y ver el estado de su membresía.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212080" y="1463040"/>
            <a:ext cx="3474720" cy="530352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5212080" y="1463040"/>
            <a:ext cx="54864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15544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1545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socios y empleados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212080" y="2148840"/>
            <a:ext cx="3474720" cy="530352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0"/>
          <p:cNvSpPr/>
          <p:nvPr/>
        </p:nvSpPr>
        <p:spPr>
          <a:xfrm>
            <a:off x="5212080" y="2148840"/>
            <a:ext cx="54864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2" y="22402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06440" y="22311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IMC integrada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212080" y="2834640"/>
            <a:ext cx="3474720" cy="530352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3"/>
          <p:cNvSpPr/>
          <p:nvPr/>
        </p:nvSpPr>
        <p:spPr>
          <a:xfrm>
            <a:off x="5212080" y="2834640"/>
            <a:ext cx="54864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672" y="292608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806440" y="2916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de admin y cliente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5212080" y="3520440"/>
            <a:ext cx="3474720" cy="530352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16"/>
          <p:cNvSpPr/>
          <p:nvPr/>
        </p:nvSpPr>
        <p:spPr>
          <a:xfrm>
            <a:off x="5212080" y="3520440"/>
            <a:ext cx="54864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6672" y="3611880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806440" y="36027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PostgreSQL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5212080" y="4206240"/>
            <a:ext cx="3474720" cy="530352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19"/>
          <p:cNvSpPr/>
          <p:nvPr/>
        </p:nvSpPr>
        <p:spPr>
          <a:xfrm>
            <a:off x="5212080" y="4206240"/>
            <a:ext cx="54864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6672" y="4297680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806440" y="42885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membresías</a:t>
            </a:r>
            <a:endParaRPr lang="en-US" sz="135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1753001D-D055-49E9-E190-C1567801B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432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Estructura del proyecto</a:t>
            </a:r>
            <a:endParaRPr lang="en-US" sz="3800" dirty="0"/>
          </a:p>
        </p:txBody>
      </p:sp>
      <p:sp>
        <p:nvSpPr>
          <p:cNvPr id="16" name="Shape 12"/>
          <p:cNvSpPr/>
          <p:nvPr/>
        </p:nvSpPr>
        <p:spPr>
          <a:xfrm>
            <a:off x="594360" y="1463040"/>
            <a:ext cx="2468880" cy="320040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594360" y="1463040"/>
            <a:ext cx="2468880" cy="64008"/>
          </a:xfrm>
          <a:prstGeom prst="rect">
            <a:avLst/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1444752" y="1691640"/>
            <a:ext cx="768096" cy="768096"/>
          </a:xfrm>
          <a:prstGeom prst="ellipse">
            <a:avLst/>
          </a:prstGeom>
          <a:solidFill>
            <a:srgbClr val="0099BB">
              <a:alpha val="85000"/>
            </a:srgbClr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912" y="1828800"/>
            <a:ext cx="493776" cy="4937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731520" y="31546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· DML · Consultas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· Triggers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3074670" y="2880360"/>
            <a:ext cx="320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18"/>
          <p:cNvSpPr/>
          <p:nvPr/>
        </p:nvSpPr>
        <p:spPr>
          <a:xfrm>
            <a:off x="5897880" y="2880360"/>
            <a:ext cx="320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"/>
          <p:cNvSpPr/>
          <p:nvPr/>
        </p:nvSpPr>
        <p:spPr>
          <a:xfrm>
            <a:off x="3406140" y="1463040"/>
            <a:ext cx="2468880" cy="320040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3"/>
          <p:cNvSpPr/>
          <p:nvPr/>
        </p:nvSpPr>
        <p:spPr>
          <a:xfrm>
            <a:off x="3406140" y="1463040"/>
            <a:ext cx="2468880" cy="64008"/>
          </a:xfrm>
          <a:prstGeom prst="rect">
            <a:avLst/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4"/>
          <p:cNvSpPr/>
          <p:nvPr/>
        </p:nvSpPr>
        <p:spPr>
          <a:xfrm>
            <a:off x="4256532" y="1691640"/>
            <a:ext cx="768096" cy="768096"/>
          </a:xfrm>
          <a:prstGeom prst="ellipse">
            <a:avLst/>
          </a:prstGeom>
          <a:solidFill>
            <a:srgbClr val="0099BB">
              <a:alpha val="85000"/>
            </a:srgbClr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692" y="1828800"/>
            <a:ext cx="493776" cy="493776"/>
          </a:xfrm>
          <a:prstGeom prst="rect">
            <a:avLst/>
          </a:prstGeom>
        </p:spPr>
      </p:pic>
      <p:sp>
        <p:nvSpPr>
          <p:cNvPr id="28" name="Text 5"/>
          <p:cNvSpPr/>
          <p:nvPr/>
        </p:nvSpPr>
        <p:spPr>
          <a:xfrm>
            <a:off x="349758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700" dirty="0"/>
          </a:p>
        </p:txBody>
      </p:sp>
      <p:sp>
        <p:nvSpPr>
          <p:cNvPr id="29" name="Text 6"/>
          <p:cNvSpPr/>
          <p:nvPr/>
        </p:nvSpPr>
        <p:spPr>
          <a:xfrm>
            <a:off x="3543300" y="31546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Java Swing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PanelLogin · PanelAdmin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PanelUsuario</a:t>
            </a:r>
            <a:endParaRPr lang="en-US" sz="1300" dirty="0"/>
          </a:p>
        </p:txBody>
      </p:sp>
      <p:sp>
        <p:nvSpPr>
          <p:cNvPr id="30" name="Shape 7"/>
          <p:cNvSpPr/>
          <p:nvPr/>
        </p:nvSpPr>
        <p:spPr>
          <a:xfrm>
            <a:off x="6217920" y="1463040"/>
            <a:ext cx="2468880" cy="320040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8"/>
          <p:cNvSpPr/>
          <p:nvPr/>
        </p:nvSpPr>
        <p:spPr>
          <a:xfrm>
            <a:off x="6217920" y="1463040"/>
            <a:ext cx="246888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9"/>
          <p:cNvSpPr/>
          <p:nvPr/>
        </p:nvSpPr>
        <p:spPr>
          <a:xfrm>
            <a:off x="7068312" y="1691640"/>
            <a:ext cx="768096" cy="768096"/>
          </a:xfrm>
          <a:prstGeom prst="ellipse">
            <a:avLst/>
          </a:prstGeom>
          <a:solidFill>
            <a:srgbClr val="00D4FF">
              <a:alpha val="8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1828800"/>
            <a:ext cx="493776" cy="493776"/>
          </a:xfrm>
          <a:prstGeom prst="rect">
            <a:avLst/>
          </a:prstGeom>
        </p:spPr>
      </p:pic>
      <p:sp>
        <p:nvSpPr>
          <p:cNvPr id="34" name="Text 10"/>
          <p:cNvSpPr/>
          <p:nvPr/>
        </p:nvSpPr>
        <p:spPr>
          <a:xfrm>
            <a:off x="630936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LÓGICA</a:t>
            </a:r>
            <a:endParaRPr lang="en-US" sz="1700" dirty="0"/>
          </a:p>
        </p:txBody>
      </p:sp>
      <p:sp>
        <p:nvSpPr>
          <p:cNvPr id="35" name="Text 11"/>
          <p:cNvSpPr/>
          <p:nvPr/>
        </p:nvSpPr>
        <p:spPr>
          <a:xfrm>
            <a:off x="6355080" y="31546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JDBC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PreparedStatement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ResultSet / modelos</a:t>
            </a:r>
            <a:endParaRPr lang="en-US" sz="13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80F8074-9FF5-63BB-E1B8-EC301DDAEF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5597" y="2442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Aplicaciones utilizadas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11480" y="1508760"/>
            <a:ext cx="2606040" cy="15544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2606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207294" y="17190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GitBash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19063" y="2185416"/>
            <a:ext cx="12935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</a:t>
            </a:r>
            <a:r>
              <a:rPr lang="en-US" sz="1200" dirty="0" err="1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</a:t>
            </a:r>
            <a:endParaRPr lang="en-US" sz="1200" dirty="0">
              <a:solidFill>
                <a:srgbClr val="E0E0E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18688" y="1508760"/>
            <a:ext cx="2606040" cy="15544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3218688" y="1508760"/>
            <a:ext cx="2606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709928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68496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Eclipse IDE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242530" y="1943189"/>
            <a:ext cx="1463326" cy="1009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desarrollo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proyecto Java</a:t>
            </a:r>
          </a:p>
          <a:p>
            <a:pPr marL="0" indent="0">
              <a:buNone/>
            </a:pPr>
            <a:endParaRPr lang="en-US" sz="1200" dirty="0">
              <a:solidFill>
                <a:srgbClr val="E0E0E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Java</a:t>
            </a:r>
          </a:p>
        </p:txBody>
      </p:sp>
      <p:sp>
        <p:nvSpPr>
          <p:cNvPr id="14" name="Shape 10"/>
          <p:cNvSpPr/>
          <p:nvPr/>
        </p:nvSpPr>
        <p:spPr>
          <a:xfrm>
            <a:off x="6025896" y="1508760"/>
            <a:ext cx="2606040" cy="15544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6025896" y="1508760"/>
            <a:ext cx="2606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1709928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75704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775704" y="213055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gestor de base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 relacional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11480" y="3264408"/>
            <a:ext cx="2606040" cy="15544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5"/>
          <p:cNvSpPr/>
          <p:nvPr/>
        </p:nvSpPr>
        <p:spPr>
          <a:xfrm>
            <a:off x="411480" y="3264408"/>
            <a:ext cx="2606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6"/>
          <p:cNvSpPr/>
          <p:nvPr/>
        </p:nvSpPr>
        <p:spPr>
          <a:xfrm>
            <a:off x="1161288" y="34472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VSCode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161288" y="3794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Página Web </a:t>
            </a:r>
          </a:p>
          <a:p>
            <a:r>
              <a:rPr lang="en-US" sz="1200" dirty="0">
                <a:solidFill>
                  <a:schemeClr val="bg1"/>
                </a:solidFill>
              </a:rPr>
              <a:t>JavaScript</a:t>
            </a:r>
          </a:p>
          <a:p>
            <a:r>
              <a:rPr lang="en-US" sz="1200" dirty="0">
                <a:solidFill>
                  <a:schemeClr val="bg1"/>
                </a:solidFill>
              </a:rPr>
              <a:t>html</a:t>
            </a:r>
          </a:p>
          <a:p>
            <a:r>
              <a:rPr lang="en-US" sz="1200" dirty="0" err="1">
                <a:solidFill>
                  <a:schemeClr val="bg1"/>
                </a:solidFill>
              </a:rPr>
              <a:t>Css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 err="1">
                <a:solidFill>
                  <a:schemeClr val="bg1"/>
                </a:solidFill>
              </a:rPr>
              <a:t>php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4" name="Shape 18"/>
          <p:cNvSpPr/>
          <p:nvPr/>
        </p:nvSpPr>
        <p:spPr>
          <a:xfrm>
            <a:off x="3218688" y="3264408"/>
            <a:ext cx="2606040" cy="15544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19"/>
          <p:cNvSpPr/>
          <p:nvPr/>
        </p:nvSpPr>
        <p:spPr>
          <a:xfrm>
            <a:off x="3218688" y="3264408"/>
            <a:ext cx="2606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0"/>
          <p:cNvSpPr/>
          <p:nvPr/>
        </p:nvSpPr>
        <p:spPr>
          <a:xfrm>
            <a:off x="3968496" y="34472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Canva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3968496" y="3886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y sprints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025896" y="3264408"/>
            <a:ext cx="2606040" cy="15544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3"/>
          <p:cNvSpPr/>
          <p:nvPr/>
        </p:nvSpPr>
        <p:spPr>
          <a:xfrm>
            <a:off x="6025896" y="3264408"/>
            <a:ext cx="2606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3465576"/>
            <a:ext cx="475488" cy="4754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75704" y="34472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6775704" y="3886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trabajo en equipo</a:t>
            </a:r>
            <a:endParaRPr lang="en-US" sz="1200" dirty="0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1E3ED69E-FAA6-62E1-22E2-8152DF87DE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4654" y="3337382"/>
            <a:ext cx="1297876" cy="674221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82B4F9C4-9863-D82A-5E67-2743CD0899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030" y="3481892"/>
            <a:ext cx="404308" cy="404308"/>
          </a:xfrm>
          <a:prstGeom prst="rect">
            <a:avLst/>
          </a:prstGeom>
        </p:spPr>
      </p:pic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2281" y="2386584"/>
            <a:ext cx="475488" cy="475488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4381950E-7E15-F182-C6D4-1B70296140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" y="1707585"/>
            <a:ext cx="494062" cy="494953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B934D6FD-0635-6C48-B221-6C9F433EC4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C9D708-C600-6BD6-B996-4FB777F37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5F4BCE-7F28-2A5C-5A69-5A7F9C855610}"/>
              </a:ext>
            </a:extLst>
          </p:cNvPr>
          <p:cNvSpPr/>
          <p:nvPr/>
        </p:nvSpPr>
        <p:spPr>
          <a:xfrm>
            <a:off x="594360" y="2432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500">
                <a:solidFill>
                  <a:srgbClr val="00D4FF"/>
                </a:solidFill>
                <a:ea typeface="Calibri"/>
                <a:cs typeface="Calibri"/>
              </a:rPr>
              <a:t>SISTEMAS INFORMÁTICOS</a:t>
            </a:r>
            <a:endParaRPr lang="en-US" sz="1100" b="1" kern="0" spc="500" dirty="0">
              <a:solidFill>
                <a:srgbClr val="00D4FF"/>
              </a:solidFill>
              <a:ea typeface="Calibri"/>
              <a:cs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0DFB32D-BDC0-67A2-FD4C-3C840994B1FD}"/>
              </a:ext>
            </a:extLst>
          </p:cNvPr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dirty="0">
                <a:solidFill>
                  <a:srgbClr val="FFFFFF"/>
                </a:solidFill>
                <a:latin typeface="Arial Black"/>
              </a:rPr>
              <a:t>Entorno Virtual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9E0C9EA-3ED3-97A4-06AC-AA4E4698AD22}"/>
              </a:ext>
            </a:extLst>
          </p:cNvPr>
          <p:cNvSpPr/>
          <p:nvPr/>
        </p:nvSpPr>
        <p:spPr>
          <a:xfrm>
            <a:off x="457200" y="1463040"/>
            <a:ext cx="4114800" cy="33832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936FFBA-9F09-1639-822D-60D054A7CBB4}"/>
              </a:ext>
            </a:extLst>
          </p:cNvPr>
          <p:cNvSpPr/>
          <p:nvPr/>
        </p:nvSpPr>
        <p:spPr>
          <a:xfrm>
            <a:off x="457200" y="1463040"/>
            <a:ext cx="41148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DC205C4-F352-8BE3-65A8-8304AFB40DB7}"/>
              </a:ext>
            </a:extLst>
          </p:cNvPr>
          <p:cNvSpPr/>
          <p:nvPr/>
        </p:nvSpPr>
        <p:spPr>
          <a:xfrm>
            <a:off x="457200" y="1527048"/>
            <a:ext cx="4114800" cy="530352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s-E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301C406-C1E7-E746-4489-8E10ADED132E}"/>
              </a:ext>
            </a:extLst>
          </p:cNvPr>
          <p:cNvSpPr/>
          <p:nvPr/>
        </p:nvSpPr>
        <p:spPr>
          <a:xfrm>
            <a:off x="594360" y="15727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FFFFFF"/>
                </a:solidFill>
                <a:latin typeface="Arial Black"/>
                <a:ea typeface="Calibri"/>
                <a:cs typeface="Calibri"/>
              </a:rPr>
              <a:t>Ubuntu Server (Apache)</a:t>
            </a:r>
            <a:endParaRPr lang="es-E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5DBF9F1-F407-763B-81AD-606B8148D0AB}"/>
              </a:ext>
            </a:extLst>
          </p:cNvPr>
          <p:cNvSpPr/>
          <p:nvPr/>
        </p:nvSpPr>
        <p:spPr>
          <a:xfrm>
            <a:off x="658368" y="233172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CFBB588-8433-EBA2-3D95-B8961F87C997}"/>
              </a:ext>
            </a:extLst>
          </p:cNvPr>
          <p:cNvSpPr/>
          <p:nvPr/>
        </p:nvSpPr>
        <p:spPr>
          <a:xfrm>
            <a:off x="960120" y="22768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Servidor</a:t>
            </a:r>
            <a:r>
              <a:rPr lang="en-US" sz="1300" dirty="0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 Web</a:t>
            </a:r>
            <a:endParaRPr lang="en-US" sz="1300" dirty="0">
              <a:solidFill>
                <a:srgbClr val="E0E0E0"/>
              </a:solidFill>
              <a:ea typeface="Calibri"/>
              <a:cs typeface="Calibri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13557A3-81D2-A2FC-0C33-FCCB1CD40077}"/>
              </a:ext>
            </a:extLst>
          </p:cNvPr>
          <p:cNvSpPr/>
          <p:nvPr/>
        </p:nvSpPr>
        <p:spPr>
          <a:xfrm>
            <a:off x="658368" y="283464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973EF63-06B6-89A8-6A37-47A48E62465D}"/>
              </a:ext>
            </a:extLst>
          </p:cNvPr>
          <p:cNvSpPr/>
          <p:nvPr/>
        </p:nvSpPr>
        <p:spPr>
          <a:xfrm>
            <a:off x="960120" y="277977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IP </a:t>
            </a:r>
            <a:r>
              <a:rPr lang="en-US" sz="1300" dirty="0" err="1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Estática</a:t>
            </a:r>
            <a:endParaRPr lang="en-US" sz="1300" dirty="0" err="1">
              <a:solidFill>
                <a:srgbClr val="E0E0E0"/>
              </a:solidFill>
              <a:ea typeface="Calibri"/>
              <a:cs typeface="Calibri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585F4D5-B090-5988-57FD-CBDF09167F03}"/>
              </a:ext>
            </a:extLst>
          </p:cNvPr>
          <p:cNvSpPr/>
          <p:nvPr/>
        </p:nvSpPr>
        <p:spPr>
          <a:xfrm>
            <a:off x="658368" y="333756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E03DCC9-4CFD-8A5C-4B88-9E60EC177AC7}"/>
              </a:ext>
            </a:extLst>
          </p:cNvPr>
          <p:cNvSpPr/>
          <p:nvPr/>
        </p:nvSpPr>
        <p:spPr>
          <a:xfrm>
            <a:off x="960120" y="328269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E0E0E0"/>
                </a:solidFill>
                <a:ea typeface="Calibri"/>
                <a:cs typeface="Calibri"/>
              </a:rPr>
              <a:t>Certificado</a:t>
            </a:r>
            <a:r>
              <a:rPr lang="en-US" sz="1300" dirty="0">
                <a:solidFill>
                  <a:srgbClr val="E0E0E0"/>
                </a:solidFill>
                <a:ea typeface="Calibri"/>
                <a:cs typeface="Calibri"/>
              </a:rPr>
              <a:t> SSL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BBD74AD-89EF-CE89-BF3C-37264EFE6DF9}"/>
              </a:ext>
            </a:extLst>
          </p:cNvPr>
          <p:cNvSpPr/>
          <p:nvPr/>
        </p:nvSpPr>
        <p:spPr>
          <a:xfrm>
            <a:off x="4892040" y="1463040"/>
            <a:ext cx="4114800" cy="33832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819AD02-AE74-007E-B569-CBC713077AC0}"/>
              </a:ext>
            </a:extLst>
          </p:cNvPr>
          <p:cNvSpPr/>
          <p:nvPr/>
        </p:nvSpPr>
        <p:spPr>
          <a:xfrm>
            <a:off x="4892040" y="1463040"/>
            <a:ext cx="4114800" cy="64008"/>
          </a:xfrm>
          <a:prstGeom prst="rect">
            <a:avLst/>
          </a:prstGeom>
          <a:solidFill>
            <a:srgbClr val="00BBAA"/>
          </a:solidFill>
          <a:ln w="12700">
            <a:solidFill>
              <a:srgbClr val="00BB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961BC6C-25D2-AA2F-3215-CC026D62AA65}"/>
              </a:ext>
            </a:extLst>
          </p:cNvPr>
          <p:cNvSpPr/>
          <p:nvPr/>
        </p:nvSpPr>
        <p:spPr>
          <a:xfrm>
            <a:off x="4892040" y="1527048"/>
            <a:ext cx="4114800" cy="530352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769D5F3-68C2-B4DC-56D2-CA39757C4C71}"/>
              </a:ext>
            </a:extLst>
          </p:cNvPr>
          <p:cNvSpPr/>
          <p:nvPr/>
        </p:nvSpPr>
        <p:spPr>
          <a:xfrm>
            <a:off x="5029200" y="15727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 Black"/>
              </a:rPr>
              <a:t>Ubuntu Server (</a:t>
            </a:r>
            <a:r>
              <a:rPr lang="en-US" sz="1600" b="1">
                <a:solidFill>
                  <a:srgbClr val="FFFFFF"/>
                </a:solidFill>
                <a:latin typeface="Arial Black"/>
              </a:rPr>
              <a:t>PostgreSQL)</a:t>
            </a:r>
            <a:endParaRPr lang="en-US" sz="1600" b="1" dirty="0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0AC45C5-9612-CCBD-E923-00005537E4FD}"/>
              </a:ext>
            </a:extLst>
          </p:cNvPr>
          <p:cNvSpPr/>
          <p:nvPr/>
        </p:nvSpPr>
        <p:spPr>
          <a:xfrm>
            <a:off x="5093208" y="2331720"/>
            <a:ext cx="182880" cy="182880"/>
          </a:xfrm>
          <a:prstGeom prst="ellipse">
            <a:avLst/>
          </a:prstGeom>
          <a:solidFill>
            <a:srgbClr val="00BBAA"/>
          </a:solidFill>
          <a:ln w="12700">
            <a:solidFill>
              <a:srgbClr val="00BB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AE01CF0-4501-7743-EB19-3BCA433EBA84}"/>
              </a:ext>
            </a:extLst>
          </p:cNvPr>
          <p:cNvSpPr/>
          <p:nvPr/>
        </p:nvSpPr>
        <p:spPr>
          <a:xfrm>
            <a:off x="5394960" y="22768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E0E0E0"/>
                </a:solidFill>
                <a:ea typeface="Calibri"/>
                <a:cs typeface="Calibri"/>
              </a:rPr>
              <a:t>Servidor</a:t>
            </a:r>
            <a:r>
              <a:rPr lang="en-US" sz="1300" dirty="0">
                <a:solidFill>
                  <a:srgbClr val="E0E0E0"/>
                </a:solidFill>
                <a:ea typeface="Calibri"/>
                <a:cs typeface="Calibri"/>
              </a:rPr>
              <a:t> Base de Datos</a:t>
            </a: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9E7A510-55A8-CD77-F1E6-B5E05766A1C2}"/>
              </a:ext>
            </a:extLst>
          </p:cNvPr>
          <p:cNvSpPr/>
          <p:nvPr/>
        </p:nvSpPr>
        <p:spPr>
          <a:xfrm>
            <a:off x="5093208" y="2834640"/>
            <a:ext cx="182880" cy="182880"/>
          </a:xfrm>
          <a:prstGeom prst="ellipse">
            <a:avLst/>
          </a:prstGeom>
          <a:solidFill>
            <a:srgbClr val="00BBAA"/>
          </a:solidFill>
          <a:ln w="12700">
            <a:solidFill>
              <a:srgbClr val="00BB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F03A6E5-1FCD-B31E-BB0F-EF882A901FEB}"/>
              </a:ext>
            </a:extLst>
          </p:cNvPr>
          <p:cNvSpPr/>
          <p:nvPr/>
        </p:nvSpPr>
        <p:spPr>
          <a:xfrm>
            <a:off x="5394960" y="277977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IP </a:t>
            </a:r>
            <a:r>
              <a:rPr lang="en-US" sz="1300" dirty="0" err="1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Estática</a:t>
            </a:r>
            <a:endParaRPr lang="en-US" sz="1300" dirty="0" err="1">
              <a:solidFill>
                <a:srgbClr val="E0E0E0"/>
              </a:solidFill>
              <a:ea typeface="Calibri"/>
              <a:cs typeface="Calibri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F05F37A-BC38-73A8-0D9D-CB60C1450BFA}"/>
              </a:ext>
            </a:extLst>
          </p:cNvPr>
          <p:cNvSpPr/>
          <p:nvPr/>
        </p:nvSpPr>
        <p:spPr>
          <a:xfrm>
            <a:off x="5093208" y="3337560"/>
            <a:ext cx="182880" cy="182880"/>
          </a:xfrm>
          <a:prstGeom prst="ellipse">
            <a:avLst/>
          </a:prstGeom>
          <a:solidFill>
            <a:srgbClr val="00BBAA"/>
          </a:solidFill>
          <a:ln w="12700">
            <a:solidFill>
              <a:srgbClr val="00BB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798B70E-B9B4-7C77-D39A-FA8B89457E68}"/>
              </a:ext>
            </a:extLst>
          </p:cNvPr>
          <p:cNvSpPr/>
          <p:nvPr/>
        </p:nvSpPr>
        <p:spPr>
          <a:xfrm>
            <a:off x="5394960" y="328269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Grupos</a:t>
            </a:r>
            <a:r>
              <a:rPr lang="en-US" sz="1300" dirty="0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 / </a:t>
            </a:r>
            <a:r>
              <a:rPr lang="en-US" sz="1300" dirty="0" err="1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Permisos</a:t>
            </a:r>
            <a:r>
              <a:rPr lang="en-US" sz="1300" dirty="0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 / </a:t>
            </a:r>
            <a:r>
              <a:rPr lang="en-US" sz="1300" dirty="0" err="1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Usuarios</a:t>
            </a: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B478AC6D-0A91-8754-D5A7-D04B9837E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  <p:sp>
        <p:nvSpPr>
          <p:cNvPr id="14" name="Text 11">
            <a:extLst>
              <a:ext uri="{FF2B5EF4-FFF2-40B4-BE49-F238E27FC236}">
                <a16:creationId xmlns:a16="http://schemas.microsoft.com/office/drawing/2014/main" id="{260E4860-B868-88BC-B3C7-E567414A0632}"/>
              </a:ext>
            </a:extLst>
          </p:cNvPr>
          <p:cNvSpPr/>
          <p:nvPr/>
        </p:nvSpPr>
        <p:spPr>
          <a:xfrm>
            <a:off x="960120" y="378561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E0E0E0"/>
                </a:solidFill>
                <a:ea typeface="Calibri"/>
                <a:cs typeface="Calibri"/>
              </a:rPr>
              <a:t>Firewall</a:t>
            </a: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D87866C4-23AF-0C83-1065-319925C6CDFD}"/>
              </a:ext>
            </a:extLst>
          </p:cNvPr>
          <p:cNvSpPr/>
          <p:nvPr/>
        </p:nvSpPr>
        <p:spPr>
          <a:xfrm>
            <a:off x="658368" y="3867912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25">
            <a:extLst>
              <a:ext uri="{FF2B5EF4-FFF2-40B4-BE49-F238E27FC236}">
                <a16:creationId xmlns:a16="http://schemas.microsoft.com/office/drawing/2014/main" id="{AF38D949-ECCD-AB46-8CEE-5FB8E0D05C9A}"/>
              </a:ext>
            </a:extLst>
          </p:cNvPr>
          <p:cNvSpPr/>
          <p:nvPr/>
        </p:nvSpPr>
        <p:spPr>
          <a:xfrm>
            <a:off x="5394960" y="378561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Firewall</a:t>
            </a:r>
          </a:p>
        </p:txBody>
      </p:sp>
      <p:sp>
        <p:nvSpPr>
          <p:cNvPr id="17" name="Shape 24">
            <a:extLst>
              <a:ext uri="{FF2B5EF4-FFF2-40B4-BE49-F238E27FC236}">
                <a16:creationId xmlns:a16="http://schemas.microsoft.com/office/drawing/2014/main" id="{CCFA2B36-1ABB-BC5C-37B3-03028EEDEECA}"/>
              </a:ext>
            </a:extLst>
          </p:cNvPr>
          <p:cNvSpPr/>
          <p:nvPr/>
        </p:nvSpPr>
        <p:spPr>
          <a:xfrm>
            <a:off x="5093208" y="3867912"/>
            <a:ext cx="182880" cy="182880"/>
          </a:xfrm>
          <a:prstGeom prst="ellipse">
            <a:avLst/>
          </a:prstGeom>
          <a:solidFill>
            <a:srgbClr val="00BBAA"/>
          </a:solidFill>
          <a:ln w="12700">
            <a:solidFill>
              <a:srgbClr val="00BB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3866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Diseño de la base de datos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1005840"/>
          </a:xfrm>
          <a:prstGeom prst="rect">
            <a:avLst/>
          </a:prstGeom>
          <a:solidFill>
            <a:srgbClr val="242424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</a:rPr>
              <a:t>24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463040"/>
            <a:ext cx="1920240" cy="1005840"/>
          </a:xfrm>
          <a:prstGeom prst="rect">
            <a:avLst/>
          </a:prstGeom>
          <a:solidFill>
            <a:srgbClr val="242424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606040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06040" y="2029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PL/pgSQL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1920240" cy="1005840"/>
          </a:xfrm>
          <a:prstGeom prst="rect">
            <a:avLst/>
          </a:prstGeom>
          <a:solidFill>
            <a:srgbClr val="242424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754880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54880" y="2029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1463040"/>
            <a:ext cx="1920240" cy="1005840"/>
          </a:xfrm>
          <a:prstGeom prst="rect">
            <a:avLst/>
          </a:prstGeom>
          <a:solidFill>
            <a:srgbClr val="242424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903720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03720" y="2029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3931920" cy="2468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94360" y="2715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980944"/>
            <a:ext cx="3931920" cy="24688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57200" y="2980944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594360" y="29992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264408"/>
            <a:ext cx="3931920" cy="2468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457200" y="3264408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94360" y="32826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Membresia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547872"/>
            <a:ext cx="3931920" cy="24688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57200" y="3547872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94360" y="3566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831336"/>
            <a:ext cx="3931920" cy="2468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457200" y="3831336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594360" y="38496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Entrenador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3931920" cy="24688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457200" y="4114800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594360" y="41330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Recepcionista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398264"/>
            <a:ext cx="3931920" cy="2468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457200" y="4398264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594360" y="44165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Limpiador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4681728"/>
            <a:ext cx="3931920" cy="24688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457200" y="4681728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594360" y="47000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09160" y="2697480"/>
            <a:ext cx="3931920" cy="2468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4709160" y="2697480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4846320" y="2715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09160" y="2980944"/>
            <a:ext cx="3931920" cy="24688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4709160" y="2980944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4846320" y="29992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Zona_Entrenos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709160" y="3264408"/>
            <a:ext cx="3931920" cy="2468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Shape 45"/>
          <p:cNvSpPr/>
          <p:nvPr/>
        </p:nvSpPr>
        <p:spPr>
          <a:xfrm>
            <a:off x="4709160" y="3264408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4846320" y="32826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709160" y="3547872"/>
            <a:ext cx="3931920" cy="24688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4709160" y="3547872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4846320" y="3566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Vestuario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709160" y="3831336"/>
            <a:ext cx="3931920" cy="2468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Shape 51"/>
          <p:cNvSpPr/>
          <p:nvPr/>
        </p:nvSpPr>
        <p:spPr>
          <a:xfrm>
            <a:off x="4709160" y="3831336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Text 52"/>
          <p:cNvSpPr/>
          <p:nvPr/>
        </p:nvSpPr>
        <p:spPr>
          <a:xfrm>
            <a:off x="4846320" y="38496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Registro_Acceso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709160" y="4114800"/>
            <a:ext cx="3931920" cy="24688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Shape 54"/>
          <p:cNvSpPr/>
          <p:nvPr/>
        </p:nvSpPr>
        <p:spPr>
          <a:xfrm>
            <a:off x="4709160" y="4114800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4846320" y="41330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Registrar_Entrada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709160" y="4398264"/>
            <a:ext cx="3931920" cy="2468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Shape 57"/>
          <p:cNvSpPr/>
          <p:nvPr/>
        </p:nvSpPr>
        <p:spPr>
          <a:xfrm>
            <a:off x="4709160" y="4398264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/>
          <p:nvPr/>
        </p:nvSpPr>
        <p:spPr>
          <a:xfrm>
            <a:off x="4846320" y="44165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Registrar_Salida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709160" y="4681728"/>
            <a:ext cx="3931920" cy="24688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4709160" y="4681728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4846320" y="47000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Mensajes_Contacto</a:t>
            </a:r>
            <a:endParaRPr lang="en-US" sz="1200" dirty="0"/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AC29C47F-D7CF-B8C3-4FEE-001AC12F5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7FF2A0-6F3D-D465-ED1F-41B0E56AF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E77691D-FACF-9668-A8BB-7F19AE615BF1}"/>
              </a:ext>
            </a:extLst>
          </p:cNvPr>
          <p:cNvSpPr/>
          <p:nvPr/>
        </p:nvSpPr>
        <p:spPr>
          <a:xfrm>
            <a:off x="634975" y="2432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9D1574-BA5D-4C56-3772-C56D621F9002}"/>
              </a:ext>
            </a:extLst>
          </p:cNvPr>
          <p:cNvSpPr/>
          <p:nvPr/>
        </p:nvSpPr>
        <p:spPr>
          <a:xfrm>
            <a:off x="1234826" y="576072"/>
            <a:ext cx="66743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</a:t>
            </a:r>
            <a:r>
              <a:rPr lang="en-US" sz="38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Entidad</a:t>
            </a: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Relación</a:t>
            </a:r>
            <a:endParaRPr lang="en-US" sz="3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01E709C-8892-4EDC-C6E4-CE91B5CAF611}"/>
              </a:ext>
            </a:extLst>
          </p:cNvPr>
          <p:cNvSpPr/>
          <p:nvPr/>
        </p:nvSpPr>
        <p:spPr>
          <a:xfrm>
            <a:off x="1758479" y="1359339"/>
            <a:ext cx="64008" cy="368045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F231DD4-8B29-8A66-0EB2-99FC9FE947FB}"/>
              </a:ext>
            </a:extLst>
          </p:cNvPr>
          <p:cNvSpPr/>
          <p:nvPr/>
        </p:nvSpPr>
        <p:spPr>
          <a:xfrm>
            <a:off x="640080" y="228600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37D0003E-46C2-EA75-0787-CCE4D791BCCF}"/>
              </a:ext>
            </a:extLst>
          </p:cNvPr>
          <p:cNvSpPr/>
          <p:nvPr/>
        </p:nvSpPr>
        <p:spPr>
          <a:xfrm>
            <a:off x="7318636" y="1359339"/>
            <a:ext cx="64008" cy="3680459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4566AF44-0A6A-94E6-B1A5-103176DF1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E2EBF0A-6FA6-E9CD-E3FF-F9A15682E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2487" y="1359339"/>
            <a:ext cx="5499025" cy="369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915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CF9CB1-A788-F3B0-FA1B-7F8C33F10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57F97FC-9478-FDBB-CDC3-BF76E3A2D524}"/>
              </a:ext>
            </a:extLst>
          </p:cNvPr>
          <p:cNvSpPr/>
          <p:nvPr/>
        </p:nvSpPr>
        <p:spPr>
          <a:xfrm>
            <a:off x="683260" y="2432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500">
                <a:solidFill>
                  <a:srgbClr val="00D4FF"/>
                </a:solidFill>
                <a:ea typeface="Calibri"/>
                <a:cs typeface="Calibri"/>
              </a:rPr>
              <a:t>BASE DE DATOS</a:t>
            </a:r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80FE06-703E-F60E-5566-9D6CF0C58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  <p:sp>
        <p:nvSpPr>
          <p:cNvPr id="5" name="Shape 5">
            <a:extLst>
              <a:ext uri="{FF2B5EF4-FFF2-40B4-BE49-F238E27FC236}">
                <a16:creationId xmlns:a16="http://schemas.microsoft.com/office/drawing/2014/main" id="{E36546C3-75F8-3819-FD49-3EA0023CCE3C}"/>
              </a:ext>
            </a:extLst>
          </p:cNvPr>
          <p:cNvSpPr/>
          <p:nvPr/>
        </p:nvSpPr>
        <p:spPr>
          <a:xfrm>
            <a:off x="220980" y="1285241"/>
            <a:ext cx="2286000" cy="59182"/>
          </a:xfrm>
          <a:prstGeom prst="rect">
            <a:avLst/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627395C-AE7F-F02A-8820-2D2C8E779874}"/>
              </a:ext>
            </a:extLst>
          </p:cNvPr>
          <p:cNvSpPr txBox="1"/>
          <p:nvPr/>
        </p:nvSpPr>
        <p:spPr>
          <a:xfrm>
            <a:off x="381000" y="673100"/>
            <a:ext cx="205105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3800" b="1">
                <a:solidFill>
                  <a:srgbClr val="FFFFFF"/>
                </a:solidFill>
                <a:latin typeface="Arial Black"/>
              </a:rPr>
              <a:t>Vistas</a:t>
            </a:r>
            <a:endParaRPr lang="en-US" sz="3800" b="0" i="0">
              <a:latin typeface="Arial Black"/>
            </a:endParaRPr>
          </a:p>
          <a:p>
            <a:pPr algn="ctr"/>
            <a:endParaRPr lang="es-ES"/>
          </a:p>
        </p:txBody>
      </p:sp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136F0CA0-CE83-D6A1-21E0-6479F8FC4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88" y="1466889"/>
            <a:ext cx="6219825" cy="2981325"/>
          </a:xfrm>
          <a:prstGeom prst="rect">
            <a:avLst/>
          </a:prstGeom>
        </p:spPr>
      </p:pic>
      <p:pic>
        <p:nvPicPr>
          <p:cNvPr id="11" name="Imagen 10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54E7CF33-72C1-4C8D-D476-B07EE3E824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0775" y="2959044"/>
            <a:ext cx="438150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699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7C3F89-4A5D-246D-B2C3-8823CD887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EC6F261-260F-A4CF-0540-BD7BA2BDD741}"/>
              </a:ext>
            </a:extLst>
          </p:cNvPr>
          <p:cNvSpPr/>
          <p:nvPr/>
        </p:nvSpPr>
        <p:spPr>
          <a:xfrm>
            <a:off x="683260" y="2432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500">
                <a:solidFill>
                  <a:srgbClr val="00D4FF"/>
                </a:solidFill>
                <a:ea typeface="Calibri"/>
                <a:cs typeface="Calibri"/>
              </a:rPr>
              <a:t>BASE DE DATOS</a:t>
            </a:r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24FB9C-8F8D-A723-4D52-30C35026D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  <p:sp>
        <p:nvSpPr>
          <p:cNvPr id="5" name="Shape 5">
            <a:extLst>
              <a:ext uri="{FF2B5EF4-FFF2-40B4-BE49-F238E27FC236}">
                <a16:creationId xmlns:a16="http://schemas.microsoft.com/office/drawing/2014/main" id="{10E4697C-90D5-422C-2675-2BA3BBC6A037}"/>
              </a:ext>
            </a:extLst>
          </p:cNvPr>
          <p:cNvSpPr/>
          <p:nvPr/>
        </p:nvSpPr>
        <p:spPr>
          <a:xfrm>
            <a:off x="220980" y="1285241"/>
            <a:ext cx="3143250" cy="73121"/>
          </a:xfrm>
          <a:prstGeom prst="rect">
            <a:avLst/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4428822-70F2-AB1E-3D7D-BE3A14199A87}"/>
              </a:ext>
            </a:extLst>
          </p:cNvPr>
          <p:cNvSpPr txBox="1"/>
          <p:nvPr/>
        </p:nvSpPr>
        <p:spPr>
          <a:xfrm>
            <a:off x="381000" y="673100"/>
            <a:ext cx="298496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3800" b="1" dirty="0" err="1">
                <a:solidFill>
                  <a:srgbClr val="FFFFFF"/>
                </a:solidFill>
                <a:latin typeface="Arial Black"/>
              </a:rPr>
              <a:t>Funciones</a:t>
            </a:r>
            <a:endParaRPr lang="en-US" sz="3800" b="1" i="0" dirty="0" err="1">
              <a:solidFill>
                <a:srgbClr val="FFFFFF"/>
              </a:solidFill>
              <a:latin typeface="Arial Black"/>
            </a:endParaRPr>
          </a:p>
          <a:p>
            <a:pPr algn="ctr"/>
            <a:endParaRPr lang="es-ES"/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D5787BB7-B44F-920F-0F56-8A8AE9267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375" y="1635784"/>
            <a:ext cx="6677025" cy="2971800"/>
          </a:xfrm>
          <a:prstGeom prst="rect">
            <a:avLst/>
          </a:prstGeom>
        </p:spPr>
      </p:pic>
      <p:pic>
        <p:nvPicPr>
          <p:cNvPr id="6" name="Imagen 5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45EEF2D-B4BF-EE9A-ECE3-0CA97A8D02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6805" y="2569234"/>
            <a:ext cx="52959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094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93A974-2637-1D62-24F1-650E96EC6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3CD4CE5-6B77-5F12-5BF7-03EB99CF7CFE}"/>
              </a:ext>
            </a:extLst>
          </p:cNvPr>
          <p:cNvSpPr/>
          <p:nvPr/>
        </p:nvSpPr>
        <p:spPr>
          <a:xfrm>
            <a:off x="683260" y="2432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500">
                <a:solidFill>
                  <a:srgbClr val="00D4FF"/>
                </a:solidFill>
                <a:ea typeface="Calibri"/>
                <a:cs typeface="Calibri"/>
              </a:rPr>
              <a:t>BASE DE DATOS</a:t>
            </a:r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AA56A0F-28BB-6831-C23D-6CCBE0287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  <p:sp>
        <p:nvSpPr>
          <p:cNvPr id="5" name="Shape 5">
            <a:extLst>
              <a:ext uri="{FF2B5EF4-FFF2-40B4-BE49-F238E27FC236}">
                <a16:creationId xmlns:a16="http://schemas.microsoft.com/office/drawing/2014/main" id="{8528A93B-BADF-4C97-956F-F23E3020E5A7}"/>
              </a:ext>
            </a:extLst>
          </p:cNvPr>
          <p:cNvSpPr/>
          <p:nvPr/>
        </p:nvSpPr>
        <p:spPr>
          <a:xfrm>
            <a:off x="220980" y="1285241"/>
            <a:ext cx="2286000" cy="59182"/>
          </a:xfrm>
          <a:prstGeom prst="rect">
            <a:avLst/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8894577-CC47-B4D8-1CAD-3F6E1A1DBB9C}"/>
              </a:ext>
            </a:extLst>
          </p:cNvPr>
          <p:cNvSpPr txBox="1"/>
          <p:nvPr/>
        </p:nvSpPr>
        <p:spPr>
          <a:xfrm>
            <a:off x="381000" y="673100"/>
            <a:ext cx="212771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3800" b="1">
                <a:solidFill>
                  <a:srgbClr val="FFFFFF"/>
                </a:solidFill>
                <a:latin typeface="Arial Black"/>
              </a:rPr>
              <a:t>Trigger</a:t>
            </a:r>
            <a:endParaRPr lang="en-US" sz="3800" b="0" i="0">
              <a:latin typeface="Arial Black"/>
            </a:endParaRPr>
          </a:p>
          <a:p>
            <a:pPr algn="ctr"/>
            <a:endParaRPr lang="es-ES"/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64257D71-F792-7102-0BEC-208CBB36A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34" y="1517350"/>
            <a:ext cx="7022981" cy="3327281"/>
          </a:xfrm>
          <a:prstGeom prst="rect">
            <a:avLst/>
          </a:prstGeom>
        </p:spPr>
      </p:pic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4E79DC26-71EB-376B-EC71-7CA9DDAFF2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9841" y="3497533"/>
            <a:ext cx="3966815" cy="134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21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4819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0669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Página web del gimnasio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365068"/>
            <a:ext cx="3200400" cy="3729445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5" name="Shape 3"/>
          <p:cNvSpPr/>
          <p:nvPr/>
        </p:nvSpPr>
        <p:spPr>
          <a:xfrm>
            <a:off x="457200" y="1365069"/>
            <a:ext cx="32004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1502229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Tecnologías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2050869"/>
            <a:ext cx="594360" cy="59436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124021"/>
            <a:ext cx="448056" cy="4480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142309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HTML5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72084" y="2795451"/>
            <a:ext cx="594360" cy="59436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2876440"/>
            <a:ext cx="448056" cy="4480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03604" y="2886891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CSS3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72084" y="3609922"/>
            <a:ext cx="594360" cy="59436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683074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6172" y="36987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3931920" y="1365069"/>
            <a:ext cx="4754880" cy="3729444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2"/>
          <p:cNvSpPr/>
          <p:nvPr/>
        </p:nvSpPr>
        <p:spPr>
          <a:xfrm>
            <a:off x="3931920" y="1365070"/>
            <a:ext cx="475488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3"/>
          <p:cNvSpPr/>
          <p:nvPr/>
        </p:nvSpPr>
        <p:spPr>
          <a:xfrm>
            <a:off x="4069080" y="150223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Secciones de la web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4069080" y="1986862"/>
            <a:ext cx="4480560" cy="502919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5"/>
          <p:cNvSpPr/>
          <p:nvPr/>
        </p:nvSpPr>
        <p:spPr>
          <a:xfrm>
            <a:off x="4069080" y="1989477"/>
            <a:ext cx="45720" cy="50030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6"/>
          <p:cNvSpPr/>
          <p:nvPr/>
        </p:nvSpPr>
        <p:spPr>
          <a:xfrm>
            <a:off x="4224528" y="20391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index.html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224528" y="227424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con info, servicios y tarifas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069080" y="2617798"/>
            <a:ext cx="4480560" cy="500304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19"/>
          <p:cNvSpPr/>
          <p:nvPr/>
        </p:nvSpPr>
        <p:spPr>
          <a:xfrm>
            <a:off x="4069080" y="2617798"/>
            <a:ext cx="45720" cy="50030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0"/>
          <p:cNvSpPr/>
          <p:nvPr/>
        </p:nvSpPr>
        <p:spPr>
          <a:xfrm>
            <a:off x="4224528" y="261779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rutinas.html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4224528" y="2888197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rutinas de entrenamiento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069080" y="3253957"/>
            <a:ext cx="4480560" cy="497697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3"/>
          <p:cNvSpPr/>
          <p:nvPr/>
        </p:nvSpPr>
        <p:spPr>
          <a:xfrm>
            <a:off x="4069080" y="3253956"/>
            <a:ext cx="45719" cy="497697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4"/>
          <p:cNvSpPr/>
          <p:nvPr/>
        </p:nvSpPr>
        <p:spPr>
          <a:xfrm>
            <a:off x="4224528" y="3239589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Formulario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4224528" y="3528277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con BD (Mensajes_Contacto)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4069080" y="3907102"/>
            <a:ext cx="4480560" cy="497697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27"/>
          <p:cNvSpPr/>
          <p:nvPr/>
        </p:nvSpPr>
        <p:spPr>
          <a:xfrm>
            <a:off x="4069080" y="3905792"/>
            <a:ext cx="45720" cy="499007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28"/>
          <p:cNvSpPr/>
          <p:nvPr/>
        </p:nvSpPr>
        <p:spPr>
          <a:xfrm>
            <a:off x="4224528" y="3905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 modular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4224528" y="4181421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separados por secciones en /parts</a:t>
            </a:r>
            <a:endParaRPr lang="en-US" sz="1200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A4DD25DF-9313-3865-CD67-BF620CB5AA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  <p:sp>
        <p:nvSpPr>
          <p:cNvPr id="37" name="Text 10">
            <a:extLst>
              <a:ext uri="{FF2B5EF4-FFF2-40B4-BE49-F238E27FC236}">
                <a16:creationId xmlns:a16="http://schemas.microsoft.com/office/drawing/2014/main" id="{4E7C5312-D9D8-7758-4E2B-35CFF7A41670}"/>
              </a:ext>
            </a:extLst>
          </p:cNvPr>
          <p:cNvSpPr/>
          <p:nvPr/>
        </p:nvSpPr>
        <p:spPr>
          <a:xfrm>
            <a:off x="1417320" y="451060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PHP</a:t>
            </a:r>
            <a:endParaRPr lang="en-US" sz="1600" dirty="0"/>
          </a:p>
        </p:txBody>
      </p:sp>
      <p:sp>
        <p:nvSpPr>
          <p:cNvPr id="38" name="Shape 26">
            <a:extLst>
              <a:ext uri="{FF2B5EF4-FFF2-40B4-BE49-F238E27FC236}">
                <a16:creationId xmlns:a16="http://schemas.microsoft.com/office/drawing/2014/main" id="{ED850DD9-DCEF-170E-DBAE-C1A289152A82}"/>
              </a:ext>
            </a:extLst>
          </p:cNvPr>
          <p:cNvSpPr/>
          <p:nvPr/>
        </p:nvSpPr>
        <p:spPr>
          <a:xfrm>
            <a:off x="4069080" y="4557199"/>
            <a:ext cx="4480560" cy="497697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28">
            <a:extLst>
              <a:ext uri="{FF2B5EF4-FFF2-40B4-BE49-F238E27FC236}">
                <a16:creationId xmlns:a16="http://schemas.microsoft.com/office/drawing/2014/main" id="{2B4F9F93-BF85-42CA-6A29-920B002D278F}"/>
              </a:ext>
            </a:extLst>
          </p:cNvPr>
          <p:cNvSpPr/>
          <p:nvPr/>
        </p:nvSpPr>
        <p:spPr>
          <a:xfrm>
            <a:off x="4224528" y="4590727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</a:rPr>
              <a:t>API</a:t>
            </a:r>
            <a:endParaRPr lang="en-US" sz="1400" dirty="0"/>
          </a:p>
        </p:txBody>
      </p:sp>
      <p:sp>
        <p:nvSpPr>
          <p:cNvPr id="41" name="Text 29">
            <a:extLst>
              <a:ext uri="{FF2B5EF4-FFF2-40B4-BE49-F238E27FC236}">
                <a16:creationId xmlns:a16="http://schemas.microsoft.com/office/drawing/2014/main" id="{C87DBAEC-5CB8-2E07-D12B-48AC53C3CEFE}"/>
              </a:ext>
            </a:extLst>
          </p:cNvPr>
          <p:cNvSpPr/>
          <p:nvPr/>
        </p:nvSpPr>
        <p:spPr>
          <a:xfrm>
            <a:off x="4224528" y="4823457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 a la Base De Datos</a:t>
            </a:r>
            <a:endParaRPr lang="en-US" sz="1200" dirty="0"/>
          </a:p>
        </p:txBody>
      </p:sp>
      <p:sp>
        <p:nvSpPr>
          <p:cNvPr id="42" name="Shape 27">
            <a:extLst>
              <a:ext uri="{FF2B5EF4-FFF2-40B4-BE49-F238E27FC236}">
                <a16:creationId xmlns:a16="http://schemas.microsoft.com/office/drawing/2014/main" id="{36D98CE3-A000-2927-9C71-84791E6AC64D}"/>
              </a:ext>
            </a:extLst>
          </p:cNvPr>
          <p:cNvSpPr/>
          <p:nvPr/>
        </p:nvSpPr>
        <p:spPr>
          <a:xfrm>
            <a:off x="4064508" y="4568185"/>
            <a:ext cx="45720" cy="499007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09138379-D823-E531-D60A-25009BA51121}"/>
              </a:ext>
            </a:extLst>
          </p:cNvPr>
          <p:cNvSpPr/>
          <p:nvPr/>
        </p:nvSpPr>
        <p:spPr>
          <a:xfrm>
            <a:off x="672084" y="4430707"/>
            <a:ext cx="594360" cy="59436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D4C8F1AB-5177-710F-8612-DA8AB987BF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701" y="4525097"/>
            <a:ext cx="559126" cy="3824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432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JAVA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Aplicación de escritorio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40726" cy="33832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40726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2540726" cy="530352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2371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Panel Administrador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331720"/>
            <a:ext cx="112921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960120" y="2276856"/>
            <a:ext cx="2117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</a:t>
            </a:r>
            <a:r>
              <a:rPr lang="en-US" sz="1300" dirty="0" err="1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2834640"/>
            <a:ext cx="112921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960120" y="2779776"/>
            <a:ext cx="2117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personal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3337560"/>
            <a:ext cx="112921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960120" y="3282696"/>
            <a:ext cx="2117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Actividades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3840480"/>
            <a:ext cx="112921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960120" y="3785616"/>
            <a:ext cx="2117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4343400"/>
            <a:ext cx="112921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960120" y="4288536"/>
            <a:ext cx="18119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web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01637" y="1463040"/>
            <a:ext cx="2540726" cy="33832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301637" y="1463040"/>
            <a:ext cx="2540726" cy="64008"/>
          </a:xfrm>
          <a:prstGeom prst="rect">
            <a:avLst/>
          </a:prstGeom>
          <a:solidFill>
            <a:srgbClr val="00BBAA"/>
          </a:solidFill>
          <a:ln w="12700">
            <a:solidFill>
              <a:srgbClr val="00BB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301637" y="1527048"/>
            <a:ext cx="2540726" cy="530352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438797" y="1572768"/>
            <a:ext cx="2371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Panel Usuario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502805" y="2331720"/>
            <a:ext cx="112921" cy="182880"/>
          </a:xfrm>
          <a:prstGeom prst="ellipse">
            <a:avLst/>
          </a:prstGeom>
          <a:solidFill>
            <a:srgbClr val="00BBAA"/>
          </a:solidFill>
          <a:ln w="12700">
            <a:solidFill>
              <a:srgbClr val="00BB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804557" y="2276856"/>
            <a:ext cx="193003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la </a:t>
            </a:r>
            <a:r>
              <a:rPr lang="en-US" sz="1300" dirty="0" err="1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membresía</a:t>
            </a: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502805" y="2834640"/>
            <a:ext cx="112921" cy="182880"/>
          </a:xfrm>
          <a:prstGeom prst="ellipse">
            <a:avLst/>
          </a:prstGeom>
          <a:solidFill>
            <a:srgbClr val="00BBAA"/>
          </a:solidFill>
          <a:ln w="12700">
            <a:solidFill>
              <a:srgbClr val="00BB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804557" y="2779776"/>
            <a:ext cx="193003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</a:t>
            </a:r>
            <a:r>
              <a:rPr lang="en-US" sz="1300" dirty="0" err="1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</a:t>
            </a: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membresía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502805" y="3337560"/>
            <a:ext cx="112921" cy="182880"/>
          </a:xfrm>
          <a:prstGeom prst="ellipse">
            <a:avLst/>
          </a:prstGeom>
          <a:solidFill>
            <a:srgbClr val="00BBAA"/>
          </a:solidFill>
          <a:ln w="12700">
            <a:solidFill>
              <a:srgbClr val="00BB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804557" y="3282696"/>
            <a:ext cx="193003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</a:t>
            </a: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IMC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502805" y="3840480"/>
            <a:ext cx="112921" cy="182880"/>
          </a:xfrm>
          <a:prstGeom prst="ellipse">
            <a:avLst/>
          </a:prstGeom>
          <a:solidFill>
            <a:srgbClr val="00BBAA"/>
          </a:solidFill>
          <a:ln w="12700">
            <a:solidFill>
              <a:srgbClr val="00BB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3804557" y="3785616"/>
            <a:ext cx="1858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</a:t>
            </a: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BD</a:t>
            </a:r>
            <a:endParaRPr lang="en-US" sz="1300" dirty="0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8F53FC40-63CC-2316-20BD-E175EABAE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  <p:sp>
        <p:nvSpPr>
          <p:cNvPr id="33" name="Shape 2">
            <a:extLst>
              <a:ext uri="{FF2B5EF4-FFF2-40B4-BE49-F238E27FC236}">
                <a16:creationId xmlns:a16="http://schemas.microsoft.com/office/drawing/2014/main" id="{D7D947D8-781A-F56D-F3C2-D00D03D6C386}"/>
              </a:ext>
            </a:extLst>
          </p:cNvPr>
          <p:cNvSpPr/>
          <p:nvPr/>
        </p:nvSpPr>
        <p:spPr>
          <a:xfrm>
            <a:off x="6203768" y="1468918"/>
            <a:ext cx="2540726" cy="33832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9748B48A-CD3F-0F42-9384-BF8778038BD9}"/>
              </a:ext>
            </a:extLst>
          </p:cNvPr>
          <p:cNvSpPr/>
          <p:nvPr/>
        </p:nvSpPr>
        <p:spPr>
          <a:xfrm>
            <a:off x="6203768" y="1468918"/>
            <a:ext cx="2540726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B05972F9-31DA-D6EB-3020-8C588191F895}"/>
              </a:ext>
            </a:extLst>
          </p:cNvPr>
          <p:cNvSpPr/>
          <p:nvPr/>
        </p:nvSpPr>
        <p:spPr>
          <a:xfrm>
            <a:off x="6203768" y="1532926"/>
            <a:ext cx="2540726" cy="530352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7CEE4D44-0761-DC12-3AE4-AD84D2212233}"/>
              </a:ext>
            </a:extLst>
          </p:cNvPr>
          <p:cNvSpPr/>
          <p:nvPr/>
        </p:nvSpPr>
        <p:spPr>
          <a:xfrm>
            <a:off x="6340928" y="1578646"/>
            <a:ext cx="2371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</a:rPr>
              <a:t>Panel </a:t>
            </a:r>
            <a:r>
              <a:rPr lang="en-US" sz="1600" b="1" dirty="0" err="1">
                <a:solidFill>
                  <a:srgbClr val="FFFFFF"/>
                </a:solidFill>
                <a:latin typeface="Arial Black" pitchFamily="34" charset="0"/>
              </a:rPr>
              <a:t>Empleados</a:t>
            </a:r>
            <a:endParaRPr lang="en-US" sz="1600" dirty="0"/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0B8543A4-3C12-84C7-92D1-717A985F87AF}"/>
              </a:ext>
            </a:extLst>
          </p:cNvPr>
          <p:cNvSpPr/>
          <p:nvPr/>
        </p:nvSpPr>
        <p:spPr>
          <a:xfrm>
            <a:off x="6404936" y="2337598"/>
            <a:ext cx="112921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8EFF4520-DB3E-E5C6-689B-1D1055D57BBD}"/>
              </a:ext>
            </a:extLst>
          </p:cNvPr>
          <p:cNvSpPr/>
          <p:nvPr/>
        </p:nvSpPr>
        <p:spPr>
          <a:xfrm>
            <a:off x="6706688" y="2282734"/>
            <a:ext cx="2117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</a:t>
            </a:r>
            <a:r>
              <a:rPr lang="en-US" sz="1300" dirty="0" err="1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</a:t>
            </a:r>
            <a:endParaRPr lang="en-US" sz="1300" dirty="0"/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1182927D-10F1-337D-873F-47101F1AEEC6}"/>
              </a:ext>
            </a:extLst>
          </p:cNvPr>
          <p:cNvSpPr/>
          <p:nvPr/>
        </p:nvSpPr>
        <p:spPr>
          <a:xfrm>
            <a:off x="6404936" y="2840518"/>
            <a:ext cx="112921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C5C2FD87-B52D-CE0B-8C09-7852536CD84F}"/>
              </a:ext>
            </a:extLst>
          </p:cNvPr>
          <p:cNvSpPr/>
          <p:nvPr/>
        </p:nvSpPr>
        <p:spPr>
          <a:xfrm>
            <a:off x="6706688" y="2785654"/>
            <a:ext cx="2117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</a:t>
            </a: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</a:t>
            </a:r>
            <a:endParaRPr lang="en-US" sz="1300" dirty="0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FB5179E2-8C6E-4968-06AD-CF4DE82BDA63}"/>
              </a:ext>
            </a:extLst>
          </p:cNvPr>
          <p:cNvSpPr/>
          <p:nvPr/>
        </p:nvSpPr>
        <p:spPr>
          <a:xfrm>
            <a:off x="6404936" y="3343438"/>
            <a:ext cx="112921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887B1FD0-6D35-491D-EACE-E56347D46618}"/>
              </a:ext>
            </a:extLst>
          </p:cNvPr>
          <p:cNvSpPr/>
          <p:nvPr/>
        </p:nvSpPr>
        <p:spPr>
          <a:xfrm>
            <a:off x="6706688" y="3288574"/>
            <a:ext cx="2117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</a:t>
            </a:r>
            <a:r>
              <a:rPr lang="en-US" sz="1300" dirty="0" err="1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</a:t>
            </a:r>
            <a:endParaRPr lang="en-US" sz="1300" dirty="0"/>
          </a:p>
        </p:txBody>
      </p:sp>
      <p:sp>
        <p:nvSpPr>
          <p:cNvPr id="43" name="Shape 12">
            <a:extLst>
              <a:ext uri="{FF2B5EF4-FFF2-40B4-BE49-F238E27FC236}">
                <a16:creationId xmlns:a16="http://schemas.microsoft.com/office/drawing/2014/main" id="{97456DF7-D06B-3ECC-8280-15B1D997CCFE}"/>
              </a:ext>
            </a:extLst>
          </p:cNvPr>
          <p:cNvSpPr/>
          <p:nvPr/>
        </p:nvSpPr>
        <p:spPr>
          <a:xfrm>
            <a:off x="6404936" y="3846358"/>
            <a:ext cx="112921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A53412E9-94E0-3C61-5B69-B907224F6CDB}"/>
              </a:ext>
            </a:extLst>
          </p:cNvPr>
          <p:cNvSpPr/>
          <p:nvPr/>
        </p:nvSpPr>
        <p:spPr>
          <a:xfrm>
            <a:off x="6706688" y="3791494"/>
            <a:ext cx="2117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</a:t>
            </a: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membresias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"/>
            <a:ext cx="5029200" cy="50292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0D4FF">
              <a:alpha val="7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¡Gracias!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GymStats · Proyecto Intermodular · 1º DAM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00400" y="3154680"/>
            <a:ext cx="2743200" cy="27432"/>
          </a:xfrm>
          <a:prstGeom prst="rect">
            <a:avLst/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 ·  Carlos  ·  Yon</a:t>
            </a:r>
            <a:endParaRPr lang="en-US" sz="1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42976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31920" y="4325112"/>
            <a:ext cx="26757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github.com/ProyectoItermodular-ICY</a:t>
            </a:r>
            <a:endParaRPr lang="en-US" sz="13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E744B52-CD6D-AED0-F2F7-9200F2DF9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974" y="295548"/>
            <a:ext cx="1076052" cy="1076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22BB155EED468449A34C29F6989E67B" ma:contentTypeVersion="14" ma:contentTypeDescription="Crear nuevo documento." ma:contentTypeScope="" ma:versionID="2862b8e09245c81fb1e1882df0eb6f26">
  <xsd:schema xmlns:xsd="http://www.w3.org/2001/XMLSchema" xmlns:xs="http://www.w3.org/2001/XMLSchema" xmlns:p="http://schemas.microsoft.com/office/2006/metadata/properties" xmlns:ns3="0c0dfe92-8f28-4366-a821-4bc596a8286f" xmlns:ns4="fc4365fe-9d9a-4ded-b1a2-8a29a347a9bb" targetNamespace="http://schemas.microsoft.com/office/2006/metadata/properties" ma:root="true" ma:fieldsID="8dbe3c436cbb9edf5602dc3ae6d3d4b2" ns3:_="" ns4:_="">
    <xsd:import namespace="0c0dfe92-8f28-4366-a821-4bc596a8286f"/>
    <xsd:import namespace="fc4365fe-9d9a-4ded-b1a2-8a29a347a9b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0dfe92-8f28-4366-a821-4bc596a828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4365fe-9d9a-4ded-b1a2-8a29a347a9b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c0dfe92-8f28-4366-a821-4bc596a8286f" xsi:nil="true"/>
  </documentManagement>
</p:properties>
</file>

<file path=customXml/itemProps1.xml><?xml version="1.0" encoding="utf-8"?>
<ds:datastoreItem xmlns:ds="http://schemas.openxmlformats.org/officeDocument/2006/customXml" ds:itemID="{42B6747A-12D4-4414-904D-5C999149AAC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5A7345-CF07-4773-A165-CC570C7006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0dfe92-8f28-4366-a821-4bc596a8286f"/>
    <ds:schemaRef ds:uri="fc4365fe-9d9a-4ded-b1a2-8a29a347a9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06DA69B-9CD7-4234-9DF9-A7385BB5A58A}">
  <ds:schemaRefs>
    <ds:schemaRef ds:uri="0c0dfe92-8f28-4366-a821-4bc596a8286f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terms/"/>
    <ds:schemaRef ds:uri="http://purl.org/dc/elements/1.1/"/>
    <ds:schemaRef ds:uri="http://schemas.microsoft.com/office/infopath/2007/PartnerControls"/>
    <ds:schemaRef ds:uri="fc4365fe-9d9a-4ded-b1a2-8a29a347a9b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459</Words>
  <Application>Microsoft Office PowerPoint</Application>
  <PresentationFormat>Presentación en pantalla (16:9)</PresentationFormat>
  <Paragraphs>169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ALONSO ALONSO, IAN</cp:lastModifiedBy>
  <cp:revision>224</cp:revision>
  <dcterms:created xsi:type="dcterms:W3CDTF">2026-05-22T09:16:32Z</dcterms:created>
  <dcterms:modified xsi:type="dcterms:W3CDTF">2026-05-31T16:20:41Z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0x010100922BB155EED468449A34C29F6989E67B</vt:lpwstr>
  </property>
</Properties>
</file>